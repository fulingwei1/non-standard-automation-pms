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0" Type="http://schemas.openxmlformats.org/officeDocument/2006/relationships/tableStyles" Target="tableStyles.xml"/><Relationship Id="rId9" Type="http://schemas.openxmlformats.org/officeDocument/2006/relationships/slide" Target="slides/slide7.xml"/><Relationship Id="rId89" Type="http://schemas.openxmlformats.org/officeDocument/2006/relationships/viewProps" Target="viewProps.xml"/><Relationship Id="rId88" Type="http://schemas.openxmlformats.org/officeDocument/2006/relationships/presProps" Target="presProps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智能驱动 · 精准交付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D4FF"/>
                </a:solidFill>
              </a:defRPr>
            </a:pPr>
            <a:r>
              <a:t>非标自动化测试设备全生命周期 AI 项目管理系统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C0C0C0"/>
                </a:solidFill>
              </a:defRPr>
            </a:pPr>
            <a:r>
              <a:t>让复杂项目变得可控、可预测、可信任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内容导览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A1628"/>
                </a:solidFill>
              </a:defRPr>
            </a:pPr>
            <a:r>
              <a:t>一、行业洞察与挑战</a:t>
            </a:r>
          </a:p>
          <a:p>
            <a:pPr>
              <a:spcAft>
                <a:spcPts val="800"/>
              </a:spcAft>
              <a:defRPr sz="2400" b="1">
                <a:solidFill>
                  <a:srgbClr val="0A1628"/>
                </a:solidFill>
              </a:defRPr>
            </a:pPr>
            <a:r>
              <a:t>二、系统架构总览</a:t>
            </a:r>
          </a:p>
          <a:p>
            <a:pPr>
              <a:spcAft>
                <a:spcPts val="800"/>
              </a:spcAft>
              <a:defRPr sz="2400" b="1">
                <a:solidFill>
                  <a:srgbClr val="0A1628"/>
                </a:solidFill>
              </a:defRPr>
            </a:pPr>
            <a:r>
              <a:t>三、核心功能详解</a:t>
            </a:r>
          </a:p>
          <a:p>
            <a:pPr>
              <a:spcAft>
                <a:spcPts val="800"/>
              </a:spcAft>
              <a:defRPr sz="2400" b="1">
                <a:solidFill>
                  <a:srgbClr val="0A1628"/>
                </a:solidFill>
              </a:defRPr>
            </a:pPr>
            <a:r>
              <a:t>四、客户门户与体验</a:t>
            </a:r>
          </a:p>
          <a:p>
            <a:pPr>
              <a:spcAft>
                <a:spcPts val="800"/>
              </a:spcAft>
              <a:defRPr sz="2400" b="1">
                <a:solidFill>
                  <a:srgbClr val="0A1628"/>
                </a:solidFill>
              </a:defRPr>
            </a:pPr>
            <a:r>
              <a:t>五、AI能力与技术亮点</a:t>
            </a:r>
          </a:p>
          <a:p>
            <a:pPr>
              <a:spcAft>
                <a:spcPts val="800"/>
              </a:spcAft>
              <a:defRPr sz="2400" b="1">
                <a:solidFill>
                  <a:srgbClr val="0A1628"/>
                </a:solidFill>
              </a:defRPr>
            </a:pPr>
            <a:r>
              <a:t>六、客户价值与案例</a:t>
            </a:r>
          </a:p>
          <a:p>
            <a:pPr>
              <a:spcAft>
                <a:spcPts val="800"/>
              </a:spcAft>
              <a:defRPr sz="2400" b="1">
                <a:solidFill>
                  <a:srgbClr val="0A1628"/>
                </a:solidFill>
              </a:defRPr>
            </a:pPr>
            <a:r>
              <a:t>七、合作展望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关于我们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核心信息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专注非标自动化测试设备研发制造 15+ 年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服务客户覆盖汽车电子、消费电子、半导体、新能源等行业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累计交付 1000+ 台定制化测试设备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拥有 50+ 项自主知识产权专利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核心能力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ICT/FCT/EOL 测试设备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烧录设备与老化系统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AOI 视觉检测设备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自动化组装线体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非标自动化行业的黄金时代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市场趋势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全球智能制造市场规模预计2025年突破 5000亿美元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中国非标自动化设备市场年复合增长率 15%+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客户对交付速度要求：从6个月压缩至3个月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设备定制化程度持续提升，标准化率不足 30%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驱动因素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新能源汽车产业爆发式增长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消费电子产品迭代加速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半导体国产化进程提速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人力成本持续上升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我们的客户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行业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典型设备需求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关键诉求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汽车电子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BMS测试、ECU烧录、EOL检测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高可靠性、可追溯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消费电子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PCBA测试、整机功能测试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快速交付、柔性换线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半导体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晶圆测试、封装测试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超高精度、洁净环境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新能源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电池模组测试、电机EOL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大电流、高安全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非标项目的复杂性困局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6B35"/>
                </a:solidFill>
              </a:defRPr>
            </a:pPr>
            <a:r>
              <a:t>核心矛盾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高度定制化需求 x 紧迫交付周期 x 多专业协同 = 管理复杂度指数级上升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典型场景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一个中型非标项目通常涉及：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3-5 个专业团队（机械/电气/软件/测试/采购）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200-500 个任务节点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50-100 次客户变更请求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1000+ 个物料SKU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痛点1 需求变更频繁，版本管理混乱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现状描述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客户在项目周期内平均发起 15-30 次需求变更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变更信息散落在微信、邮件、会议纪要中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工程师经常按旧图纸加工导致返工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版本号混乱：Rev.A/Rev.B/Final/Final_V2...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FF6B35"/>
                </a:solidFill>
              </a:defRPr>
            </a:pPr>
            <a:r>
              <a:t>业务影响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! 返工成本占项目总成本 10-25%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! 因版本错误导致的废料损失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! 客户投诉：说好的功能怎么没有?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痛点2 多团队协同效率低下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现状描述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机械工程师修改了安装位，电气工程师不知道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软件开发完成，才发现硬件接口变了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采购提前下单，设计变更后物料报废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项目经理每天花 3 小时对齐信息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C0C0C0"/>
                </a:solidFill>
              </a:defRPr>
            </a:pPr>
            <a:r>
              <a:t>典型对话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机械组：我们改了治具尺寸，群里说过了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电气组：没看到啊，线束都做好了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FF6B35"/>
                </a:solidFill>
              </a:defRPr>
            </a:pPr>
            <a:r>
              <a:t>业务影响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! 70% 的返工源于信息不同步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痛点3 进度不透明，风险后知后觉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现状描述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项目状态依赖周会汇报，信息滞后 3-5 天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完成 80% 可能持续两周不动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关键路径任务延误未被及时发现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客户突然来访，项目经理手忙脚乱准备资料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C0C0C0"/>
                </a:solidFill>
              </a:defRPr>
            </a:pPr>
            <a:r>
              <a:t>典型场景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周一汇报：一切正常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周五发现：视觉算法验证卡住两周了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FF6B35"/>
                </a:solidFill>
              </a:defRPr>
            </a:pPr>
            <a:r>
              <a:t>业务影响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! 项目延期率高达 40-60%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! 被动救火而非主动预防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痛点4 FAT/SAT 问题追溯困难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现状描述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验收测试发现问题，无法快速定位责任环节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历史问题记录分散，无法形成知识沉淀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相同问题在不同项目重复出现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客户要求提供完整追溯报告，临时拼凑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FF6B35"/>
                </a:solidFill>
              </a:defRPr>
            </a:pPr>
            <a:r>
              <a:t>业务影响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! 验收周期延长 2-4 周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! 客户对品质管控能力质疑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! 经验无法传承，老员工离职知识流失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017520"/>
            <a:ext cx="9144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第二部分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D4FF"/>
                </a:solidFill>
              </a:defRPr>
            </a:pPr>
            <a:r>
              <a:t>解决方案总览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从救火走向掌控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0A1628"/>
                </a:solidFill>
              </a:defRPr>
            </a:pPr>
            <a:r>
              <a:t>我们深耕非标自动化行业 15+ 年，深刻理解这些痛点。</a:t>
            </a:r>
          </a:p>
          <a:p>
            <a:pPr>
              <a:spcAft>
                <a:spcPts val="800"/>
              </a:spcAft>
              <a:defRPr sz="2200" b="0">
                <a:solidFill>
                  <a:srgbClr val="0A1628"/>
                </a:solidFill>
              </a:defRPr>
            </a:pPr>
            <a:r>
              <a:t>基于 1000+ 项目经验，我们打造了这套 AI 驱动的项目管理系统。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00D4FF"/>
                </a:solidFill>
              </a:defRPr>
            </a:pPr>
            <a:r>
              <a:t>设计理念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不是通用工具的简单移植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而是为非标自动化量身定制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融入行业 Know-How 与 AI 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产品定位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一句话定义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专为非标自动化测试设备打造的 AI 增强型项目协同平台，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覆盖从 RFQ 到售后的全生命周期管理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核心价值主张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精准：每个任务、每个变更、每个问题可追溯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高效：AI 辅助决策，减少重复劳动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协同：打破部门墙，信息实时同步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透明：项目状态一目了然，风险提前预警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四层架构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A1628"/>
                </a:solidFill>
              </a:defRPr>
            </a:pPr>
            <a:r>
              <a:t>客户层 Customer Layer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客户Portal | 移动端 | 第三方系统集成 | 数据大屏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A1628"/>
                </a:solidFill>
              </a:defRPr>
            </a:pPr>
            <a:r>
              <a:t>业务层 Business Layer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销售管理 | 项目管理 | 生产管理 | 采购管理 | 售后服务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A1628"/>
                </a:solidFill>
              </a:defRPr>
            </a:pPr>
            <a:r>
              <a:t>智能层 AI Layer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WBS智能拆解 | 风险预警 | 资源优化 | 知识图谱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A1628"/>
                </a:solidFill>
              </a:defRPr>
            </a:pPr>
            <a:r>
              <a:t>数据层 Data Layer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项目数据 | 物料数据 | 工时数据 | 质量数据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覆盖项目全生命周期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九大阶段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S1 需求进入 -&gt; S2 方案设计 -&gt; S3 采购备料 -&gt; S4 加工制造 -&gt; S5 装配调试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S9 质保结项 &lt;- S8 现场安装 &lt;- S7 包装发运 &lt;- S6 出厂验收(FAT)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每个阶段的管控要点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S1 需求进入：需求规格书、需求冻结确认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S2 方案设计：3D设计图、BOM、设计评审通过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S3 采购备料：物料齐套、长周期件跟踪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S4 加工制造：加工件完成、外协质量验收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S5 装配调试：整机调试OK、调试问题闭环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覆盖项目全生命周期（续）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后续阶段管控要点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S6 出厂验收：FAT报告、客户签字确认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S7 包装发运：发货单据、物流跟踪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S8 现场安装：SAT报告、现场问题处理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S9 质保结项：结项报告、尾款回收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健康度状态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H1 正常（绿色）- 项目进展顺利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H2 有风险（黄色）- 需要关注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H3 阻塞（红色）- 需要立即处理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H4 已完结（灰色）- 项目已结束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七大核心能力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1. 需求管理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客户需求全程追溯</a:t>
            </a: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2. WBS智能拆解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AI自动生成任务树</a:t>
            </a: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3. 多专业协同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机/电/软无缝衔接</a:t>
            </a: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4. 风险预警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智能识别潜在风险</a:t>
            </a: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5. 进度追踪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实时掌握项目状态</a:t>
            </a: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6. 交付物管理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图纸/文档版本控制</a:t>
            </a: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7. 客户门户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透明化客户体验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告别 Excel + 微信的时代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传统方式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本系统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项目规划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Excel手工排期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AI智能拆解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进度跟踪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周会汇报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实时看板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团队协同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微信群+邮件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统一平台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变更管理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口头通知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流程审批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风险管控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靠经验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AI预测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客户沟通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被动回复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主动推送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知识沉淀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存个人电脑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统一知识库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为什么不用 Jira / Trello / 飞书？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通用工具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本系统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行业适配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需大量配置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开箱即用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业务流程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简单任务管理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全流程覆盖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物料管理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BOM/采购集成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设计协同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CAD/PLM联动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AI能力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基础提醒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WBS/风险预测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客户界面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专属Portal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前端层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- React + TypeScript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- 移动端 H5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- 数据可视化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后端层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- FastAPI (Python)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- 微服务架构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- RESTful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数据层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- MySQL (业务数据)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- Redis (缓存)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- Elasticsearch (搜索)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AI层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- 大语言模型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- 知识图谱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- 机器学习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017520"/>
            <a:ext cx="9144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第三部分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D4FF"/>
                </a:solidFill>
              </a:defRPr>
            </a:pPr>
            <a:r>
              <a:t>核心功能详解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功能模块全景图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0D4FF"/>
                </a:solidFill>
              </a:defRPr>
            </a:pPr>
            <a:r>
              <a:t>经营驾驶舱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管理层实时数据看板，一目了然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五大业务模块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销售管理 - 从线索到签单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项目管理 - 从立项到交付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生产管理 - 从图纸到产品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采购管理 - 从需求到入库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售后服务 - 从报修到满意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基础支撑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基础数据管理 | 系统管理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销售管理模块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C0C0C0"/>
                </a:solidFill>
              </a:defRPr>
            </a:pPr>
            <a:r>
              <a:t>从线索到签单，商机不流失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核心功能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线索管理 - 多渠道线索统一收集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客户360 - 客户信息全景画像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商机跟进 - 销售漏斗可视化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报价管理 - 智能报价单生成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合同管理 - 电子签约，版本控制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C48C"/>
                </a:solidFill>
              </a:defRPr>
            </a:pPr>
            <a:r>
              <a:t>业务价值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线索转化率提升 30%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报价效率提升 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线索管理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1. 多渠道收集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官网表单 | 展会名片扫描 | 销售手动录入 | 第三方平台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2. 线索分配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按区域/行业自动分配 | 负载均衡 | 支持手动调整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3. 跟进记录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通话记录自动同步 | 拜访签到定位 | 跟进提醒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4. 转化分析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线索来源分析 | 转化漏斗统计 | 销售行为分析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客户360视图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客户基本信息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企业信息、联系人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组织架构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行业标签、规模等级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信用评级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历史交易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成交项目列表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累计交易金额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回款情况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沟通记录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拜访记录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邮件往来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会议纪要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项目进展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在执行项目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项目满意度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问题反馈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商机管理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销售漏斗阶段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线索 -&gt; 需求确认 -&gt; 方案报价 -&gt; 商务谈判 -&gt; 合同签订 -&gt; 赢单/丢单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功能特点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可视化销售漏斗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预测销售额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预计成单日期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赢单概率评估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竞争对手分析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C48C"/>
                </a:solidFill>
              </a:defRPr>
            </a:pPr>
            <a:r>
              <a:t>管理价值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销售预测准确率提升 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智能报价管理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1. 报价模板库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标准设备报价模板 | 历史报价参考 | 成本基准线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2. 智能报价生成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根据配置自动计算 | 利润率预警 | 一键生成PDF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3. 版本管理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多版本对比 | 变更追溯 | 客户确认记录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4. 审批流程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超折扣审批 | 多级审批链 | 移动端审批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合同全生命周期管理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合同流程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起草 -&gt; 内部评审 -&gt; 客户确认 -&gt; 电子签约 -&gt; 归档备案 -&gt; 履约监控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功能特点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合同模板库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条款风险检查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电子签章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合同档案库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履约节点提醒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回款计划跟踪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C48C"/>
                </a:solidFill>
              </a:defRPr>
            </a:pPr>
            <a:r>
              <a:t>业务价值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合同审批周期缩短 60%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项目管理模块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C0C0C0"/>
                </a:solidFill>
              </a:defRPr>
            </a:pPr>
            <a:r>
              <a:t>从立项到交付，全程可控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核心功能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立项管理 - 规范立项流程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WBS管理 - AI智能任务拆解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进度管理 - 实时甘特图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风险管理 - 智能预警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文档管理 - 版本可追溯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验收管理 - FAT/SAT流程化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C48C"/>
                </a:solidFill>
              </a:defRPr>
            </a:pPr>
            <a:r>
              <a:t>业务价值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项目交付周期缩短 25% | 延期项目减少 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规范化立项流程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立项流程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销售移交 -&gt; 技术评审 -&gt; 资源评估 -&gt; 立项审批 -&gt; 项目启动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立项检查清单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客户需求规格书完整性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技术可行性评估通过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预算成本核算完成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资源(人力/设备)可用性确认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交期承诺合理性评估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风险预判与应对方案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AI 驱动的 WBS 智能拆解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传统方式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AI智能拆解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项目经理凭经验手工拆解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输入需求，AI自动生成任务树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容易遗漏关键任务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基于知识库，全面覆盖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工时估算靠感觉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参考历史数据，精准估算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新人上手慢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模板复用，快速启动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AI WBS 拆解引擎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工作原理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Step 1：NLP解析需求文本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Step 2：识别关键子系统/模块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Step 3：匹配知识图谱模板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Step 4：生成WBS任务树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Step 5：预估工时与里程碑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C48C"/>
                </a:solidFill>
              </a:defRPr>
            </a:pPr>
            <a:r>
              <a:t>拆解准确率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标准设备：95%+ | 定制设备：85%+ | 支持人工调整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行业专属 WBS 模板库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设备类型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典型WBS节点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模板数量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ICT测试设备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治具设计/针床加工/上位机开发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50+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FCT测试设备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测试方案/接口设计/测试脚本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40+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EOL测试设备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工艺分析/通讯开发/MES对接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30+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烧录设备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烧录方案/治具设计/烧录软件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20+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AOI视觉设备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光源选型/算法开发/标定调试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30+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组装线体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机构设计/电控设计/PLC编程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50+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实时甘特图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1. 可视化排期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任务条拖拽调整 | 依赖关系连线 | 关键路径高亮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2. 进度追踪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计划 vs 实际对比 | 进度偏差预警 | 里程碑达成状态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3. 资源视图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人员负载热力图 | 资源冲突提示 | 跨项目资源协调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4. 多视图切换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甘特图视图 | 看板视图 | 列表视图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AI 风险雷达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风险识别维度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     进度风险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        |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资源风险 -+- 质量风险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        |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     成本风险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四维风险实时监控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进度风险：任务延期、里程碑达成率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成本风险：预算执行率、成本偏差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质量风险：问题关闭率、返工率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资源风险：人员负载、技能匹配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AI风险预警场景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风险类型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触发条件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AI建议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进度延误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关键任务超期3天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调配资源/调整计划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物料短缺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长周期件未下单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立即启动采购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资源冲突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人员负载&gt;120%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任务重新分配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质量风险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同类问题重复出现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根因分析/流程改进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成本超支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实际成本&gt;预算110%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成本复盘/变更控制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风险预警实战案例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案例场景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项目：某新能源电池模组EOL测试设备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阶段：S3采购备料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FF6B35"/>
                </a:solidFill>
              </a:defRPr>
            </a:pPr>
            <a:r>
              <a:t>AI发现的风险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! 高压接触器（型号：XX-500A）交期12周，当前未下单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该物料位于关键路径，将导致S5装配调试延迟3周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AI建议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1. 立即启动采购流程（优先级：紧急）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2. 联系备选供应商询价（已匹配3家）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3. 评估是否可替代为国产型号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00C48C"/>
                </a:solidFill>
              </a:defRPr>
            </a:pPr>
            <a:r>
              <a:t>处理结果：当天完成采购下单，项目按期交付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跨专业协同看板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三专业联动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  机械组       电气组       软件组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 3D结构设计   电气原理图   测试脚本开发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 治具设计     接线图       HMI界面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协同机制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任务关联：一处变更，相关方收到通知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文档关联：机械图纸/电气图/代码同一任务下管理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@通知：问题讨论直接@相关工程师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评审会议：在线发起多专业评审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工程变更全流程管理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ECN (工程变更通知) 流程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变更申请 -&gt; 影响评估 -&gt; 审批决策 -&gt; 执行变更 -&gt; 关闭验证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变更类型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设计变更（机械/电气/软件）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物料变更（替代/升级）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工艺变更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规格变更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计划变更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C48C"/>
                </a:solidFill>
              </a:defRPr>
            </a:pPr>
            <a:r>
              <a:t>管理价值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变更有据可查 | 影响范围可评估 | 避免私自变更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交付物与文档管理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文档类型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典型内容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版本控制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设计图纸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3D模型、2D图纸、爆炸图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自动版本号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电气图纸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原理图、接线图、IO表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变更追溯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软件代码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测试脚本、HMI程序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Git集成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技术文档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操作手册、维护手册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模板化管理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验收文档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FAT/SAT报告、调试记录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签字确认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出厂验收（FAT）管理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FAT流程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验收准备 -&gt; 功能测试 -&gt; 精度测试 -&gt; 问题处理 -&gt; 客户签字 -&gt; 发货放行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验收模板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标准验收项目库（可配置）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验收标准（PASS/FAIL判定依据）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检验表单（支持拍照、填数据）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电子签批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问题管理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问题分类（A/B/C类）-&gt; 责任人指派 -&gt; 整改跟踪 -&gt; 关闭确认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现场安装（SAT）管理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SAT流程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发货跟踪 -&gt; 现场到达 -&gt; 开箱检验 -&gt; 安装调试 -&gt; 联调测试 -&gt; 客户验收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移动端支持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签到定位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现场拍照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问题记录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即时沟通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验收签字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现场问题处理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问题快速上报 | 远程技术支持 | 备件申请 | 解决方案记录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项目健康度看板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0D4FF"/>
                </a:solidFill>
              </a:defRPr>
            </a:pPr>
            <a:r>
              <a:t>项目整体健康度评分：85分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进度健康度：82分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- 里程碑达成率：90%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- 任务按时完成率：78%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成本健康度：88分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- 预算执行率：92%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- 成本偏差：+3%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质量健康度：90分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- 问题关闭率：95%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- 返工率：2%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生产管理模块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C0C0C0"/>
                </a:solidFill>
              </a:defRPr>
            </a:pPr>
            <a:r>
              <a:t>从图纸到产品，精益制造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核心功能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生产计划 - 排产与调度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工单管理 - 任务派发与报工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物料管理 - 齐套检查与领料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车间管理 - 工位与产能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生产看板 - 实时进度展示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C48C"/>
                </a:solidFill>
              </a:defRPr>
            </a:pPr>
            <a:r>
              <a:t>业务价值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生产效率提升 20% | 物料齐套率 95%+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智能生产排程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排程考虑因素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项目交期优先级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设备产能限制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人员技能匹配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物料齐套状态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外协件到货时间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排程优化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AI自动排程建议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瓶颈资源识别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多方案对比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动态调整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工单全程追踪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工单流程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工单创建 -&gt; 任务派发 -&gt; 开工报工 -&gt; 过程检验 -&gt; 完工入库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移动端报工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扫码开工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进度上报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异常反馈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完工确认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工时统计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实际工时 vs 标准工时 | 效率分析 | 人员绩效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物料齐套检查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应到物料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已到库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齐套率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PJ001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350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340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97%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正常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PJ002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有风险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PJ003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420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阻塞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采购管理模块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C0C0C0"/>
                </a:solidFill>
              </a:defRPr>
            </a:pPr>
            <a:r>
              <a:t>降本增效，供应可靠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核心功能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采购需求 - BOM驱动采购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采购订单 - 全流程管理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供应商管理 - 评估与准入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到货管理 - 收货与检验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采购分析 - 成本与绩效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C48C"/>
                </a:solidFill>
              </a:defRPr>
            </a:pPr>
            <a:r>
              <a:t>业务价值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采购周期缩短 30% | 采购成本降低 5-10%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从BOM到采购需求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流程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设计BOM -&gt; 审核发布 -&gt; 需求汇总 -&gt; 询价比价 -&gt; 采购下单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自动化特点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BOM变更自动触发采购需求更新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物料需求合并（跨项目）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安全库存预警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长周期件提前预警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供应商全生命周期管理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准入管理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资质审核、现场考察、试用评估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绩效评估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质量、交期、价格、服务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等级分类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战略/优选/合格/限用/淘汰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风险监控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经营异常、质量问题、交期风险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017520"/>
            <a:ext cx="9144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第四部分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D4FF"/>
                </a:solidFill>
              </a:defRPr>
            </a:pPr>
            <a:r>
              <a:t>客户门户与体验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客户专属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C0C0C0"/>
                </a:solidFill>
              </a:defRPr>
            </a:pPr>
            <a:r>
              <a:t>透明可信，自助便捷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核心价值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项目进度随时可查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交付物在线查看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问题沟通便捷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验收签批在线完成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C48C"/>
                </a:solidFill>
              </a:defRPr>
            </a:pPr>
            <a:r>
              <a:t>客户体验升级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从天天追问到自助查询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从被动等待到主动推送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项目进度实时可见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客户可见内容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1. 项目总览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项目当前阶段 | 整体进度百分比 | 预计交付日期 | 健康度状态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2. 里程碑进展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已完成里程碑 | 进行中里程碑 | 待开始里程碑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3. 关键任务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本周完成任务 | 下周计划任务 | 阻塞问题说明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交付物在线查看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可查看内容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设计图纸（3D/2D在线预览）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测试视频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测试报告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验收文档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操作手册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权限控制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按项目阶段开放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按文档类型授权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水印保护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下载记录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FAT 远程验收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远程验收功能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1. 视频直播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多机位现场直播 | 画面清晰流畅 | 支持回放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2. 实时互动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语音对讲 | 文字聊天 | 标注问题点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3. 在线签批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验收项确认 | 问题记录 | 电子签名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C48C"/>
                </a:solidFill>
              </a:defRPr>
            </a:pPr>
            <a:r>
              <a:t>业务价值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客户差旅成本降低 70% | 验收周期缩短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问题反馈与跟踪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反馈渠道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在线提交问题单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图片/视频上传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一键呼叫服务热线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在线客服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问题跟踪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工单状态实时更新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处理进度推送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历史问题查询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满意度评价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自助服务知识库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自助内容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设备操作指南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常见问题FAQ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简单故障自排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操作视频教程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智能推荐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根据设备型号推荐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根据历史问题推荐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AI智能问答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设备运行数据报表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可查看报表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设备OEE报表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测试数据趋势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故障统计分析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备件消耗报表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数据可视化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自定义时间范围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多维度筛选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图表/表格切换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导出Excel/PDF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移动端随时掌控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项目团队功能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任务查看与更新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待办提醒推送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现场问题上报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移动审批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即时沟通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客户功能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项目进度查看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文档在线查看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问题提交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在线签批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PC + 移动 + 大屏 多端协同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终端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使用场景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典型用户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PC Web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日常办公、深度操作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项目经理、工程师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移动端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外出、车间、现场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服务工程师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数据大屏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管理驾驶舱、展厅展示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高管、客户参观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平板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现场验收、会议演示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验收工程师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017520"/>
            <a:ext cx="9144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第五部分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D4FF"/>
                </a:solidFill>
              </a:defRPr>
            </a:pPr>
            <a:r>
              <a:t>AI能力与技术亮点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AI 赋能智能项目管理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AI能力矩阵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WBS智能拆解 | 风险预警引擎 | 资源优化引擎 | 智能问答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知识图谱引擎 | NLP处理引擎 | 数据分析引擎 | 机器学习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非标行业知识图谱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知识图谱内容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1. 设备知识库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500+ 典型设备类型 | 10000+ 标准模块 | 零部件关系图谱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2. 工艺知识库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测试工艺流程 | 调试经验总结 | 故障处理方案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3. 物料知识库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物料属性信息 | 替代物料关系 | 供应商信息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4. 项目经验库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历史项目数据 | 工时基准 | 风险案例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AI 风险预测引擎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风险类型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输入特征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预测输出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进度风险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任务依赖、历史延误率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延误概率、延误天数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成本风险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物料价格波动、变更频率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超支概率、超支金额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质量风险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历史问题、新技术占比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问题发生概率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资源风险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人员负载、技能匹配度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资源冲突概率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AI 智能推荐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物料推荐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替代物料推荐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供应商推荐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价格预测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人员推荐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任务分配建议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技能匹配度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负载均衡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解决方案推荐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故障处理方案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相似案例参考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最佳实践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进度调整建议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赶工方案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资源调配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并行优化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AI 智能助手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问答示例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C0C0C0"/>
                </a:solidFill>
              </a:defRPr>
            </a:pPr>
            <a:r>
              <a:t>用户问：PJ250101项目当前状态如何？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A1628"/>
                </a:solidFill>
              </a:defRPr>
            </a:pPr>
            <a:r>
              <a:t>AI回答：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PJ250101项目当前处于S5装配调试阶段，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整体进度75%，健康度评分82分（有风险）。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主要风险：视觉算法调试进度落后3天。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建议：增加调试人员或申请延期。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开放集成生态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CAD/PLM集成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SolidWorks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AutoCAD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CATIA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Creo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ERP集成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SAP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金蝶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用友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自动化软件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TIA Portal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RSLogix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NI TestStand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LabVIEW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办公协作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企业微信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钉钉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飞书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数据分析与经营洞察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分析维度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1. 项目分析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项目成功率趋势 | 延期原因分析 | 成本偏差分析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2. 人效分析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人均产出 | 工时利用率 | 技能分布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3. 供应链分析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供应商绩效 | 采购成本趋势 | 物料周转率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4. 客户分析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客户满意度 | 复购率 | 客户价值分布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高管经营驾驶舱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驾驶舱指标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在执行项目: 25个 | 本月交付: 8个 | 在手订单: 5.2亿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项目健康度分布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正常: 18个   有风险: 5个   阻塞: 2个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本月关键指标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交付准时率: 88% | 客户满意度: 92% | 回款率: 78%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风险预警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PJ005 视觉算法调试延误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PJ012 长周期件交期风险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报表中心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报表类型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报表名称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周期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项目报表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项目进度周报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周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项目报表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里程碑达成报告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月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成本报表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项目成本分析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月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人效报表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工时利用率报告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周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采购报表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采购执行月报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月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质量报表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问题分析报告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月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客户报表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客户满意度报告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季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017520"/>
            <a:ext cx="9144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第六部分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D4FF"/>
                </a:solidFill>
              </a:defRPr>
            </a:pPr>
            <a:r>
              <a:t>客户价值与案例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为您创造的价值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D4FF"/>
                </a:solidFill>
              </a:defRPr>
            </a:pPr>
            <a:r>
              <a:t>交付更快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项目交付周期缩短 25%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800" b="1">
                <a:solidFill>
                  <a:srgbClr val="00D4FF"/>
                </a:solidFill>
              </a:defRPr>
            </a:pPr>
            <a:r>
              <a:t>成本更低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项目变更成本降低 35%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800" b="1">
                <a:solidFill>
                  <a:srgbClr val="00D4FF"/>
                </a:solidFill>
              </a:defRPr>
            </a:pPr>
            <a:r>
              <a:t>质量更优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返工率降低至 5% 以下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800" b="1">
                <a:solidFill>
                  <a:srgbClr val="00D4FF"/>
                </a:solidFill>
              </a:defRPr>
            </a:pPr>
            <a:r>
              <a:t>客户更满意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客户满意度 NPS 提升至 82+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交付效率提升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环节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效率提升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原因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项目启动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AI WBS拆解，模板复用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进度管控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实时追踪，提前预警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变更处理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流程化管理，影响评估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团队协同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信息同步，减少会议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验收交付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在线验收，问题追踪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成本节约分析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成本节约来源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1. 返工成本减少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信息同步减少版本错误 | 变更管理减少遗漏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2. 人力成本优化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自动化报表减少人工统计 | 协同效率提升减少加班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3. 物料成本控制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需求变更及时通知采购 | 减少废料损失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C48C"/>
                </a:solidFill>
              </a:defRPr>
            </a:pPr>
            <a:r>
              <a:t>ROI计算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系统投入 vs 年化收益 = 1:5+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风险可控，延期减少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使用前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使用后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改善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项目延期率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降低30%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重大风险发生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月均3次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月均0.5次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降低83%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风险发现时间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事后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提前2周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问题闭环周期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5天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2天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降低60%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客户满意度提升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改善点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客户反馈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透明度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项目进度随时可查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终于不用天天追问了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响应速度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问题2小时内响应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比以前快多了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沟通效率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在线沟通留痕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不怕说不清楚了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交付质量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问题追溯完整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质量管控很到位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服务体验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自助查询方便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用起来很顺手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案例一：某汽车电子企业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客户背景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行业：新能源汽车电子 | 规模：年产能5000台设备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挑战：项目多、变更频繁、交付压力大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解决方案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部署项目管理系统 | 对接现有ERP/PLM | 培训80+用户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C48C"/>
                </a:solidFill>
              </a:defRPr>
            </a:pPr>
            <a:r>
              <a:t>实施效果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项目交付周期：从16周 -&gt; 12周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项目延期率：从40% -&gt; 10%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变更成本：降低35%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客户满意度：从75 -&gt; 90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C0C0C0"/>
                </a:solidFill>
              </a:defRPr>
            </a:pPr>
            <a:r>
              <a:t>这套系统真正理解我们非标行业的痛点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案例二：某消费电子测试服务商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客户背景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行业：3C消费电子测试 | 规模：服务50+品牌客户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挑战：项目数量大、客户要求高、进度跟踪难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解决方案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客户Portal上线 | 移动端报工 | AI风险预警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C48C"/>
                </a:solidFill>
              </a:defRPr>
            </a:pPr>
            <a:r>
              <a:t>实施效果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同时在管项目：从30个 -&gt; 50个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项目经理效率：提升40%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客户投诉：降低60%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回款周期：缩短20天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C0C0C0"/>
                </a:solidFill>
              </a:defRPr>
            </a:pPr>
            <a:r>
              <a:t>客户Portal让我们的专业度提升了一个台阶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案例三：某半导体设备企业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客户背景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行业：半导体封测设备 | 规模：高端定制设备供应商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挑战：技术复杂、多方协同、知识沉淀难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解决方案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知识库建设 | 多专业协同看板 | 文档版本管理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C48C"/>
                </a:solidFill>
              </a:defRPr>
            </a:pPr>
            <a:r>
              <a:t>实施效果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设计评审效率：提升50%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图纸版本错误：降低90%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新人上手周期：从3个月 -&gt; 1个月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知识复用率：从10% -&gt; 60%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C0C0C0"/>
                </a:solidFill>
              </a:defRPr>
            </a:pPr>
            <a:r>
              <a:t>终于不怕老员工离职了，经验都沉淀在系统里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实施路径与服务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标准实施流程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第1-2周        第3-4周        第5-6周        第7-8周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需求调研 -&gt;    系统配置 -&gt;    数据迁移 -&gt;    培训上线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业务梳理      定制开发      试运行        运维支持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实施内容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需求调研：业务流程梳理、需求确认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系统配置：参数配置、模板定制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数据迁移：历史数据导入、基础数据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培训上线：用户培训、试运行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运维支持：问题处理、持续优化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017520"/>
            <a:ext cx="9144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第七部分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D4FF"/>
                </a:solidFill>
              </a:defRPr>
            </a:pPr>
            <a:r>
              <a:t>合作展望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产品版本与定价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功能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标准版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专业版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企业版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项目管理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有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有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有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销售管理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生产管理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有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有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客户Portal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AI能力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基础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完整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完整+定制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系统集成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标准API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深度集成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部署方式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SaaS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SaaS/私有化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私有化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用户数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不限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服务保障体系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1. 实施服务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专业实施顾问 | 项目经理负责制 | 定期项目汇报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2. 培训服务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管理员培训 | 用户培训 | 在线培训课程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3. 技术支持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7x24小时热线 | 远程技术支持 | 2小时响应承诺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4. 持续服务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季度业务回顾 | 系统优化建议 | 新功能培训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C48C"/>
                </a:solidFill>
              </a:defRPr>
            </a:pPr>
            <a:r>
              <a:t>SLA承诺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系统可用性：99.9% | 问题响应：2小时 | 重大问题解决：24小时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开启您的数字化项目管理之旅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下一步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A1628"/>
                </a:solidFill>
              </a:defRPr>
            </a:pPr>
            <a:r>
              <a:t>1. 预约演示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30分钟系统演示 | 针对您的业务场景 | 解答您的疑问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A1628"/>
                </a:solidFill>
              </a:defRPr>
            </a:pPr>
            <a:r>
              <a:t>2. 试用体验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14天免费试用 | 真实数据测试 | 专人辅导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A1628"/>
                </a:solidFill>
              </a:defRPr>
            </a:pPr>
            <a:r>
              <a:t>3. 方案咨询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业务需求梳理 | 定制化方案 | 投资回报分析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00C48C"/>
                </a:solidFill>
              </a:defRPr>
            </a:pPr>
            <a:r>
              <a:t>立即扫码预约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让您的下一个非标项目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D4FF"/>
                </a:solidFill>
              </a:defRPr>
            </a:pPr>
            <a:r>
              <a:t>从救火走向掌控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C0C0C0"/>
                </a:solidFill>
              </a:defRPr>
            </a:pPr>
            <a:r>
              <a:t>服务热线：400-XXX-XXXX</a:t>
            </a:r>
          </a:p>
          <a:p>
            <a:pPr algn="ctr">
              <a:defRPr sz="1600">
                <a:solidFill>
                  <a:srgbClr val="C0C0C0"/>
                </a:solidFill>
              </a:defRPr>
            </a:pPr>
            <a:r>
              <a:t>邮箱：sales@company.com</a:t>
            </a:r>
          </a:p>
          <a:p>
            <a:pPr algn="ctr">
              <a:defRPr sz="1600">
                <a:solidFill>
                  <a:srgbClr val="C0C0C0"/>
                </a:solidFill>
              </a:defRPr>
            </a:pPr>
            <a:r>
              <a:t>官网：www.company.com</a:t>
            </a:r>
          </a:p>
          <a:p>
            <a:pPr algn="ctr">
              <a:defRPr sz="1600">
                <a:solidFill>
                  <a:srgbClr val="C0C0C0"/>
                </a:solidFill>
              </a:defRPr>
            </a:pPr>
            <a:r>
              <a:t>地址：XX市XX区XX路XX号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10191</Words>
  <Application>WPS 演示</Application>
  <PresentationFormat>On-screen Show (4:3)</PresentationFormat>
  <Paragraphs>1743</Paragraphs>
  <Slides>85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85</vt:i4>
      </vt:variant>
    </vt:vector>
  </HeadingPairs>
  <TitlesOfParts>
    <vt:vector size="97" baseType="lpstr">
      <vt:lpstr>Arial</vt:lpstr>
      <vt:lpstr>宋体</vt:lpstr>
      <vt:lpstr>Wingdings</vt:lpstr>
      <vt:lpstr>Arial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flw</cp:lastModifiedBy>
  <cp:revision>2</cp:revision>
  <dcterms:created xsi:type="dcterms:W3CDTF">2026-01-08T12:26:39Z</dcterms:created>
  <dcterms:modified xsi:type="dcterms:W3CDTF">2026-01-08T12:26:39Z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EFC7804414FB63917FA25F698F7BCD38_43</vt:lpwstr>
  </property>
  <property fmtid="{D5CDD505-2E9C-101B-9397-08002B2CF9AE}" pid="3" name="KSOProductBuildVer">
    <vt:lpwstr>2052-12.1.23540.23540</vt:lpwstr>
  </property>
</Properties>
</file>